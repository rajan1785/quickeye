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07d0379214bcb" /><Relationship Type="http://schemas.openxmlformats.org/officeDocument/2006/relationships/extended-properties" Target="/docProps/app.xml" Id="R1601f5d1c12e4d32" /><Relationship Type="http://schemas.openxmlformats.org/officeDocument/2006/relationships/officeDocument" Target="/ppt/presentation.xml" Id="R02421a1d9586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f1da5b42a44832"/>
  </p:sldMasterIdLst>
  <p:notesMasterIdLst>
    <p:notesMasterId xmlns:r="http://schemas.openxmlformats.org/officeDocument/2006/relationships" r:id="Rbf38ad0e0b144dc2"/>
  </p:notesMasterIdLst>
  <p:sldIdLst>
    <p:sldId xmlns:r="http://schemas.openxmlformats.org/officeDocument/2006/relationships" id="256" r:id="R765fdef12f1748e2"/>
    <p:sldId xmlns:r="http://schemas.openxmlformats.org/officeDocument/2006/relationships" id="257" r:id="R48ad1ca482e348c7"/>
    <p:sldId xmlns:r="http://schemas.openxmlformats.org/officeDocument/2006/relationships" id="258" r:id="R79bb40579fcd4b97"/>
    <p:sldId xmlns:r="http://schemas.openxmlformats.org/officeDocument/2006/relationships" id="259" r:id="R27e4e7771a394c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1da5b42a44832" /><Relationship Type="http://schemas.openxmlformats.org/officeDocument/2006/relationships/theme" Target="/ppt/theme/theme1.xml" Id="R12996cb64e464292" /><Relationship Type="http://schemas.openxmlformats.org/officeDocument/2006/relationships/notesMaster" Target="/ppt/notesMasters/notesMaster1.xml" Id="Rbf38ad0e0b144dc2" /><Relationship Type="http://schemas.openxmlformats.org/officeDocument/2006/relationships/presProps" Target="/ppt/presProps.xml" Id="Re492eb0a3deb43a6" /><Relationship Type="http://schemas.openxmlformats.org/officeDocument/2006/relationships/viewProps" Target="/ppt/viewProps.xml" Id="R53985537b1634776" /><Relationship Type="http://schemas.openxmlformats.org/officeDocument/2006/relationships/tableStyles" Target="/ppt/tableStyles.xml" Id="Rb79771d732de4b3f" /><Relationship Type="http://schemas.openxmlformats.org/officeDocument/2006/relationships/slide" Target="/ppt/slides/slide1.xml" Id="R765fdef12f1748e2" /><Relationship Type="http://schemas.openxmlformats.org/officeDocument/2006/relationships/slide" Target="/ppt/slides/slide2.xml" Id="R48ad1ca482e348c7" /><Relationship Type="http://schemas.openxmlformats.org/officeDocument/2006/relationships/slide" Target="/ppt/slides/slide3.xml" Id="R79bb40579fcd4b97" /><Relationship Type="http://schemas.openxmlformats.org/officeDocument/2006/relationships/slide" Target="/ppt/slides/slide4.xml" Id="R27e4e7771a39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db81532a7543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049df72624080" /><Relationship Type="http://schemas.openxmlformats.org/officeDocument/2006/relationships/notesMaster" Target="/ppt/notesMasters/notesMaster1.xml" Id="Rc6b34575e3fd44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32622cd8a64d98" /><Relationship Type="http://schemas.openxmlformats.org/officeDocument/2006/relationships/notesMaster" Target="/ppt/notesMasters/notesMaster1.xml" Id="Ra97dc9a1cc6246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1ec3a65099400f" /><Relationship Type="http://schemas.openxmlformats.org/officeDocument/2006/relationships/notesMaster" Target="/ppt/notesMasters/notesMaster1.xml" Id="R49cb3f3b3f69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bd42dcec6b49b8" /><Relationship Type="http://schemas.openxmlformats.org/officeDocument/2006/relationships/notesMaster" Target="/ppt/notesMasters/notesMaster1.xml" Id="Rb3a72e00ff2443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f741bf8714a3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2f999cb641b4065" /><Relationship Type="http://schemas.openxmlformats.org/officeDocument/2006/relationships/slideLayout" Target="/ppt/slideLayouts/slideLayout2.xml" Id="R33cfbaff13cb4f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cfbaff13cb4f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0f5e996a84710" /><Relationship Type="http://schemas.openxmlformats.org/officeDocument/2006/relationships/notesSlide" Target="/ppt/notesSlides/notesSlide1.xml" Id="R383809d4604b4f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cb695f3614e43" /><Relationship Type="http://schemas.openxmlformats.org/officeDocument/2006/relationships/notesSlide" Target="/ppt/notesSlides/notesSlide2.xml" Id="R064bde9c4699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15ab6c907b45e3" /><Relationship Type="http://schemas.openxmlformats.org/officeDocument/2006/relationships/notesSlide" Target="/ppt/notesSlides/notesSlide3.xml" Id="Rd02620e178c2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596943f3d04809" /><Relationship Type="http://schemas.openxmlformats.org/officeDocument/2006/relationships/notesSlide" Target="/ppt/notesSlides/notesSlide4.xml" Id="Rb402a514501147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5E1AD-9B8F-4B60-9255-B51CAFA6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35BDD-03D8-4472-AFED-88F04DA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49CFE-5A2F-42FB-8F82-D840FE0F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6B2F8-18DA-4551-97F0-B55E5676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62168-059D-4269-91AB-DA683440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D34C4-5130-42BD-ADAE-307BA45A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6CBB0-8768-431E-9455-314D9D3D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9F8C8-9B6B-4BB1-9E86-7070D18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50C76-B42E-4A59-9D08-CCD9EECD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AB8B8-79FC-4F58-AB57-A6CC96C9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94F25-CAE8-4B85-A3BD-887EEF7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F6BD3-CAA6-4C1A-8CA9-28015EDD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D498D-22EF-4D08-8547-BA0261D0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A32AF-0031-453A-A65C-0CD0AFD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89AAE-5E6C-4FF3-AFA0-7A8D6C8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514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Inspection still breaks when the evidence lives in too many places.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A53FF-F002-49D9-9741-5D08122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Photos, chat messages, and memory do not give owners a clean view of defects, timing, or repeat patterns.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9D7DF-0294-4606-AB7A-0DA6FC1B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4953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6190B-253B-4E18-A32B-0EADE825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BEDC7-8D32-4D78-AECB-BBACFDA6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Without a shared record, every shift starts from memory.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6A134-DD06-4F0C-A770-88686856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4267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That makes it hard to see whether the same defect keeps returning, which units were checked, or whether a pattern is spreading across the line.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BFE1B-C306-48DE-ADF1-9A6D5F7F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81100"/>
            <a:ext cx="56007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3354B-1272-4F30-9C48-D77FF788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HOW THE FAILURE HAPPENS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FEA79-231A-49BD-BC4E-F499B55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The defect is not just the defect. The problem is the broken chain from sight to decision to record.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92510-FAB3-46C2-AEA5-14D80C5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506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7E920-DB00-4F27-A7BB-4CBF7C1C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98BC2-2460-4659-8BA9-82BE6368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4118"/>
            </a:srgbClr>
          </a:solidFill>
          <a:ln xmlns:a="http://schemas.openxmlformats.org/drawingml/2006/main" w="9525">
            <a:solidFill>
              <a:srgbClr val="F59E0B">
                <a:alpha val="14118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913087-23A8-4FFD-AD16-66FD12C9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FD95FE-1524-443C-9B92-052022E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Manual spot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BE9BE9-12CF-407C-9C5D-F2D99DC1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One person inspects a unit, but context stays in their head.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96E6F-B8EF-4DC1-A6B1-9A5EDE80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813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4871FC-1B7F-4FD5-8FAE-7C97315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06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2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82EA2A-D710-44AB-953F-3881978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CE928E-9DE7-4771-94CA-451B35E1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>
              <a:alpha val="14118"/>
            </a:srgbClr>
          </a:solidFill>
          <a:ln xmlns:a="http://schemas.openxmlformats.org/drawingml/2006/main" w="9525">
            <a:solidFill>
              <a:srgbClr val="EF4444">
                <a:alpha val="14118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4ADDF2-3BF0-482B-94A3-A55C2CFA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99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FB89B3-39A6-4F80-AF03-D8ABBDD3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Photo in chat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B7D83D-7BB3-4FDE-BFC1-F63BE4B7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Evidence gets sent around, but it is not structured for later review.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5443D0-84C8-45B9-A486-9182251C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576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CB62DC-55CC-4A0D-9E39-6E57B685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06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5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6AED82-1542-4AC1-A06E-1646D864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9DABEE-A6CF-46E3-BAA3-B498F445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57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>
              <a:alpha val="14118"/>
            </a:srgbClr>
          </a:solidFill>
          <a:ln xmlns:a="http://schemas.openxmlformats.org/drawingml/2006/main" w="9525">
            <a:solidFill>
              <a:srgbClr val="3B82F6">
                <a:alpha val="14118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3E44A4-2DF3-4B8C-B540-0C0B66C5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862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3A1D2B-1979-4CF4-9E61-54EF3AAC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No shared history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6306BA-473C-47CF-95F6-762029C7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862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next shift cannot easily compare, search, or trend what happened.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59F423-9034-47D7-BE74-9E514CE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339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0E463F-CC11-48C2-821C-671B6424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506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017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CAECBD-14E2-401C-99E5-7774F1A8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AE69FF-C39C-4563-AEAD-D664063A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>
              <a:alpha val="14118"/>
            </a:srgbClr>
          </a:solidFill>
          <a:ln xmlns:a="http://schemas.openxmlformats.org/drawingml/2006/main" w="9525">
            <a:solidFill>
              <a:srgbClr val="EF4444">
                <a:alpha val="14118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BD1BD9-3C34-4726-9D7A-8F478671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625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01A57B-3449-4DF8-B8D5-D40E32E3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Defect escapes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AFC2E8-98D8-47A5-9D29-338146F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625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line keeps moving while the pattern remains invisible to owners.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10EF0B-EA81-45C1-87EC-E037764E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57850"/>
            <a:ext cx="560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2A0B57-7142-4D43-9261-559F0E75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791200"/>
            <a:ext cx="506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The result is not just missed quality. It is a weak operating memory for the whole factory.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8C6E94-D70B-471C-8D1A-18537982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01 / 04</a:t>
            </a:r>
          </a:p>
        </p:txBody>
      </p:sp>
    </p:spTree>
    <p:extLst>
      <p:ext uri="{BB962C8B-B14F-4D97-AF65-F5344CB8AC3E}">
        <p14:creationId xmlns:p14="http://schemas.microsoft.com/office/powerpoint/2010/main" val="16160834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29E59-8DEA-4D5D-B176-444D1438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9CDFB-90BF-4E83-B013-C35C4708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36072-2187-4F97-900C-0C1FC800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6D090-AD91-4404-9BD7-B802ABE2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6C837-F2BC-4EC5-AAB0-5BF29887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EF98B-5860-4F0C-B9D7-1584222F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2A28A-6A7B-47DD-833A-C58C112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15447-0D7D-4E41-925F-4AAE8143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95EDB-83AA-4526-B5B3-FCC32558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FC251-A81D-4F7D-B8B2-BBF38226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080C9-D126-4768-9B6C-5EBB04DC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F847F-C0B5-4921-8BF1-C8DF8F94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D4148-744C-4287-A403-1D6D8D10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04BEC-54D8-47B9-905E-F96F27A3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USER JOURNEY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99BC9-AF9F-4914-BE1C-BFACC8CF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QuickEye turns one inspection into a shared record the whole shift can 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CEDD9-0C55-490C-997A-40CE40E7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loop works on a phone: capture the unit, classify it, explain the verdict, and save it into a visible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97400-22DE-4C81-8CB3-D43247DB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0764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5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02AC2-9494-414F-BDCF-98554408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82FB3-65EF-4A07-8E73-725407F8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AB800-B1E3-4F72-BD0B-3E751F8D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Snap unit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D631C-83B1-4036-BF77-70C72A3E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inspector opens the camera and captures the product in the moment.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9E10A-2FB0-4FDA-888F-3B4C7085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One photo becomes the evidence for the whole decision.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58A31-AB4F-46E7-AAD8-0EF8A99F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051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F567D-0A90-40CE-9AB4-0747B0FA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20764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7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DC3C7-86D9-4336-9B78-8AC6160C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5F585-727D-4737-9863-A45747D3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336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483CF-A6A7-4423-BE84-E06AEE6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Get verdict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E419B-22D0-4AA2-9A8E-DBBC5EBD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95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model returns ok, defect, or uncertain with confidence and similarity scores.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0281E-351E-420E-8D6A-59DA5DE8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The decision is immediate enough for the line.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FF2DD8-04FB-4161-9A0E-6FC6196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051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9C6EA-D5DC-4A29-98F5-FE11C21C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20764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93A787-8F2C-4657-9EDA-4DACCC88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84773A-544F-403A-8B56-885A3311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336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BC6CB8-5A90-4538-BC03-C6FED836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38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Read explanation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F373F8-F7AD-404D-BBB4-1DE73527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95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inspector sees what defect was detected, where it is, and why it matters.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A50268-E379-4DBF-998C-69FD4125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433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The result is readable instead of hidden in a code.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06BA97-CA95-4752-8FE4-6E814510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051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B51CCF-CA00-454F-9119-7E5B8A27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24100"/>
            <a:ext cx="20764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4AA922-DC77-4C4A-B200-70B9608E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2410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D9BF41-A235-4410-BC91-D0A473D9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336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317677-44E1-4ABF-86B7-4352E1AC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38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Save history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7A583F-76A2-467E-AAE8-5A59987A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Every result is stored with a timestamp and preview for later review.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D63999-0640-4A58-A71F-B5F71C66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433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The shift gets a searchable memory.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BED208-C9C4-44B3-B168-AC4398EC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051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8A36EB-1C45-4A0F-B41F-B9C6B798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24100"/>
            <a:ext cx="20764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22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499DD0-257F-4C40-84F0-06245227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2410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AD3C51-7A58-4807-BC7D-21932FD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336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B4F850-380C-4E0B-8FB0-A7CC930A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Review dashboard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B2DFEB-90E7-4B37-B3BF-D88E3F82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95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Owners and QC leads see trends, defect types, and recent failures in one place.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FDE9A8-9392-42BD-875C-220DCCF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The loop becomes a management tool.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209FA8-0D84-460C-9A20-AC1D6585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8145A2-5FD5-4C8E-95E8-341F7130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5E3112-33C3-4C92-A881-00B796E1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One image becomes one decision and one searchable record.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AE6A4A-3770-43B2-8D02-591344B7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That makes the product useful both on the shop floor and in the office, because the same inspection output serves both users.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803766-B202-4140-ADDE-A933A88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911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13333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5128B1-F189-4BA0-B0E6-DB139A75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One photo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BCE0CA-F476-42B7-9B15-DEA40074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911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>
              <a:alpha val="13333"/>
            </a:srgbClr>
          </a:solidFill>
          <a:ln xmlns:a="http://schemas.openxmlformats.org/drawingml/2006/main" w="9525">
            <a:solidFill>
              <a:srgbClr val="3B82F6">
                <a:alpha val="13333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353A6B-01EF-484A-AD63-A33FA5FB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482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One verdict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6550FE-8447-4991-B187-084943A7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9911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13333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620135-CF40-4EB1-AC84-584FC5E1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0482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One history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CB4B25-F899-4704-ACCE-003D826D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02 / 04</a:t>
            </a:r>
          </a:p>
        </p:txBody>
      </p:sp>
    </p:spTree>
    <p:extLst>
      <p:ext uri="{BB962C8B-B14F-4D97-AF65-F5344CB8AC3E}">
        <p14:creationId xmlns:p14="http://schemas.microsoft.com/office/powerpoint/2010/main" val="19441094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C4FBC-13E7-4F51-A64F-3A1DC86E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FA870-8F39-444B-96D6-FA6985B1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573DA-B014-4DB5-993A-E79F9349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89036-0CD7-45B6-AD59-ED10759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0614D-BE2C-423F-836C-59E4BAE1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5C698-F9FA-468F-996D-54E498F8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05D41-C49C-4DDC-A48D-F43AC6D0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00DDA-0C84-4114-8DB0-4C37547A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8910C-F235-4839-91F0-29F933F5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5AA41-208F-4EFE-8B2F-841915B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6D07C-7FEE-4C01-924E-D176D56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1346F-A23C-4EC0-A694-FFD3998D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C3DA3-360C-4C55-BA85-D960BB19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430BA-C2BA-4653-A109-531F1AFB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E2D0D-83CA-42EE-B827-C6C5C178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A client-first stack keeps the workflow fast on-device and easy to extend.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DF782-204C-4AC7-8CB1-1EF93CB3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deck leans on the existing app pattern: client components, localStorage history, and client-rendered analytics.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A1FFD-FDD7-4992-A70A-6978F3A0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5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E85F8-B97E-42EE-A63C-B486333E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68E44-1892-464A-8BEF-CE77098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Capture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E00AE-F42A-42B3-A1E7-D69570B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70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Next.js App Router + React client components + Capacitor camera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EF85B-6149-44DF-BEA7-A4344DB4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678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inspection flow starts in the browser or mobile wrapper, so the same UI can serve a phone-first shop floor experience.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3EC71-66C5-4EB0-9E07-4F6F8568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7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E6466-EFDF-448B-BF05-C856433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0B63F-FA4D-4922-B617-9BDAD709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Inspection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42734-E8EF-4588-99BA-602C51E5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670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Verdict payload, confidence, similarity scores, and explanation fields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7F05D-D4D4-4060-A11E-166F4FEC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78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product keeps the result readable and structured, which makes the verdict easy to show, store, and reuse.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4D425-86F6-4F63-9FA7-DEB44F58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C0C92-0063-4398-AB5E-155C595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EAD0B9-2EB6-4D14-A49D-0871B8C1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98BCC1-A555-4DDE-BA0A-4DE9146B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670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localStorage history with timestamped entries and hydration-safe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94EAD-D34A-4188-B214-F800F2D4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678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dashboard reads only existing inspection data, so analytics work without changing the backend.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952649-D6DE-4B75-A532-1E85CA0E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22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52F57-F636-42DE-846B-0E618B17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852D5F-9D0E-4BD5-9314-296A294D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Analytics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776FA6-A38F-458B-96F6-B4831973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670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Recharts, summary cards, and trend views for operational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B895E5-8547-467E-B959-258AE901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678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same history powers KPI tiles, weekly trends, defect breakdowns, and the shift summary card.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FEA043-C39F-4D8C-9507-DF44D900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ED68F5-D20F-495B-B8D2-65EA94EA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WHY THIS STACK WORKS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23216-5DA4-4C35-BF54-20055A5E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The product stays lightweight for the floor while still giving management a clean analytics surface.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F6FDCD-B91F-43BA-B1EA-82E24BB5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F6ADA5-2755-41F3-A75F-D230458E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Low friction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9B84E6-DE02-432E-B009-3CEC9A3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814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No extra hardware or separate analytics system is needed for the first version.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33788A-BAB8-42DB-B944-DD64E1F8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29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8A6F44-4A8E-4FFF-91AE-2C36E17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814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Portable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0AF4A2-CD2C-4836-9C1F-60F65FAA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same UI can run in browser, on mobile, or in a wrapped app shell.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90EC6C-B066-43C4-B23D-C5AEB733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9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FEFEEC-CC2F-4EB2-86FF-3D9690C7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Fast feedback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87DCEF-8F0C-4E18-89F4-FB2672F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625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Client-side history and charts keep the loop responsive during inspections.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5AD0D0-E75F-42BE-8CB5-2C7B4BB0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0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6A1960-BB82-4FD4-A7F3-85ACA38D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625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4F5"/>
                </a:solidFill>
                <a:latin typeface="Aptos"/>
                <a:ea typeface="Aptos"/>
                <a:cs typeface="Aptos"/>
              </a:rPr>
              <a:t>Easy to extend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037FBC-424A-4A33-8934-0196C60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530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 structured result object leaves room for richer reporting later.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D194D5-76EC-4C34-8912-12AFBB48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F88134-86C0-4A20-8254-D85517A2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The analytics dashboard can be built entirely from existing inspection history, so the product story stays client-first instead of backend-heavy.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C876B9-8D48-4BAC-87E3-7BB691E8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03 / 04</a:t>
            </a:r>
          </a:p>
        </p:txBody>
      </p:sp>
    </p:spTree>
    <p:extLst>
      <p:ext uri="{BB962C8B-B14F-4D97-AF65-F5344CB8AC3E}">
        <p14:creationId xmlns:p14="http://schemas.microsoft.com/office/powerpoint/2010/main" val="4841106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BEAAEC-A180-4731-90C4-35FDA37B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A2CA-961C-49F9-A887-F199B500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B99CA-FF71-4783-A4BD-9F065BFE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7077C-F489-436E-8159-313FD82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99332-FB3F-4B77-A598-D86A1429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A5CB7-899E-4CC0-AC60-9B70628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B769E-11BE-477A-A2E0-7F417CE5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57814-3EFB-46C5-A102-FE08F43B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8EDEE-5CFA-42CC-8832-5B01AE95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4029C-35A4-4AC0-9F90-C318CB9D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6E576-8440-4292-9640-92A93800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EB310-0C03-4F40-83EF-0D07A59C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24CBC-8FCD-48A8-9D74-A72483C5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356EF-FD89-4BE4-940E-A25E4BF4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TARGET AUDIENCE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4DDB7-DEF7-47E9-B39D-2E20497B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914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Factory owners buy the signal, while QC and line teams use it every day.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94B46-D5BA-495B-A6F2-449ABDF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QuickEye is strongest where visual inspection is still manual and the result needs to survive a shift handoff.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2A3BB-3312-4966-B17D-D3772E04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390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B81E7-30A0-4AA5-9CCD-CA733FC4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553E8-6B88-4BC3-A835-C5B1D1DF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Factory owners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46B34-7F1A-4473-83F2-E6CF9896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They want margin protection, defect trends, and evidence that quality is improving rather than just being discussed.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06B11-2EB3-4D53-8CC6-84785682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C14BD-9724-4C39-8795-70CE061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Buyer / sponsor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910AF-A118-4331-BC05-C8C6146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81CF3-ADBB-448E-AFE1-59DA3213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Wants clean visibility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F6557-DA19-489F-BD92-1904AF2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3A867-CA3D-4C87-9754-C6B9C9AF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Needs rollout confidence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EEED1-3F85-497B-9CF2-D23A9EA6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3390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5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91786E-54D6-4772-A982-2DB05A4E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C36E9-C44D-470F-9C8D-84E8CCF3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QC and plant managers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C7A6A1-633C-4244-BED0-CAB68F9E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They run the review loop, check patterns across shifts, and make sure the inspection record is easy to trust.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3DB226-158D-4E7A-8EA6-8944F363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7B05A-FE1A-407D-88D1-EF11E99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Primary daily user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CB6AE4-8084-41D1-9AF5-E89994DC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F386F1-92AD-4C04-A0E5-C86F406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Needs fast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818B3-0D5E-4044-B06A-780C77EF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78932A-1EE8-403F-9E70-22A54A65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624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Uses the history 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6D9C8D-3108-4AD9-910F-849F27D3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3390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622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2B176D-9CBE-4DC5-98BE-7BC17782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2F438C-551D-4ADB-BD70-4A108984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Line supervisors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2B90FF-D3C5-418A-9B3B-45C7259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They need quick capture, a clear verdict, and a simple path for reporting defects during the shift.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E53AA7-82D8-4A6F-98F0-E02352DF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FA3186-3854-47A3-8060-5A5B5B8F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Operational user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037828-4165-474E-8482-20C6F7FB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103582-F57E-446A-A0D5-61C511A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Needs speed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5937A5-8079-4384-A531-9EFB08B1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82CF57-F491-4E5C-8C16-6DDCF248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4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4F5"/>
                </a:solidFill>
                <a:latin typeface="Aptos"/>
                <a:ea typeface="Aptos"/>
                <a:cs typeface="Aptos"/>
              </a:rPr>
              <a:t>Acts on the result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A2C8B7-53B2-49B5-B91E-62E7A9D5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666CDB-6350-4792-B4DF-9F93F5F2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CC0F23-17DF-4A63-99E7-CD458A15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Best first rollout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F67765-7DF5-45B0-ACD9-CEC5CCFB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4F5"/>
                </a:solidFill>
                <a:latin typeface="Aptos Display"/>
                <a:ea typeface="Aptos Display"/>
                <a:cs typeface="Aptos Display"/>
              </a:rPr>
              <a:t>Start with one line, one QC lead, and one factory owner who needs a cleaner operating signal from inspection history.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0221DC-6A41-4A82-8521-49ED50F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13333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6A62F8-6A39-4372-9E6E-A273DFAD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673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03E16E-E8E9-408C-A8BA-8EF14445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13333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22BA4D-6D2F-49C9-A792-B1EC404C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Daily user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C21C67-C605-461E-9475-70CA05A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1015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>
              <a:alpha val="13333"/>
            </a:srgbClr>
          </a:solidFill>
          <a:ln xmlns:a="http://schemas.openxmlformats.org/drawingml/2006/main" w="9525">
            <a:solidFill>
              <a:srgbClr val="3B82F6">
                <a:alpha val="13333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42B82C-381A-427B-BD88-40CF028F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673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Rollout path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F85AD1-5452-4B20-A43B-106122FF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04 / 04</a:t>
            </a:r>
          </a:p>
        </p:txBody>
      </p:sp>
    </p:spTree>
    <p:extLst>
      <p:ext uri="{BB962C8B-B14F-4D97-AF65-F5344CB8AC3E}">
        <p14:creationId xmlns:p14="http://schemas.microsoft.com/office/powerpoint/2010/main" val="1504684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2026-05-28T18:24:27.6530000Z</dcterms:created>
  <dcterms:modified xsi:type="dcterms:W3CDTF">2026-05-28T18:24:27.6530000Z</dcterms:modified>
</coreProperties>
</file>